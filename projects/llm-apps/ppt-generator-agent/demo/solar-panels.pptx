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sun is a massive fusion reactor, turning hydrogen into helium and releasing photons. These photons travel 93 million miles in about 8 minutes. Earth intercepts about 173,000 terawatts continuously—far more than humanity uses. Solar panels capture just a fraction of this free, renewable energy. Understanding this flow is the first step to seeing how a panel turns light into electricity.</a:t>
            </a:r>
          </a:p>
          <a:p/>
          <a:p>
            <a:r>
              <a:t>Image: afloresm / CC BY 2.0 / Wikimedia Commons (https://commons.wikimedia.org/wiki/File:PS10_solar_power_tower.jpg)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solar panel is a sandwich of layers. Tempered glass on top protects the silicon cells while letting light pass. Below the glass, silicon wafers are encased in protective polymers. A metal frame holds everything together, and a junction box routes the electricity out. When photons strike the silicon, they knock electrons loose. A built-in electric field, created by the p-n junction, pushes those electrons through wires as direct current.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Silicon sits just below oxygen in crustal abundance, making it cheap and plentiful. As a semiconductor, pure silicon barely conducts electricity. But doping it with phosphorus creates n-type silicon with extra electrons, while boron creates p-type with missing electrons. When sunlight hits the junction between them, electrons break free and flow. Silicon’s bandgap of about 1.1 electron volts matches visible light well. Over 90% of panels use crystalline silicon.</a:t>
            </a:r>
          </a:p>
          <a:p/>
          <a:p>
            <a:r>
              <a:t>Image: Sangitiana Fararano / CC BY-SA 2.0 / Wikimedia Commons (https://commons.wikimedia.org/wiki/File:Wafer_20110212.jpg)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Sunlight arrives as packets of energy called photons. When a photon hits the silicon cell, it can transfer its energy to an electron. If the energy is large enough, the electron breaks free from its atom, leaving behind a vacancy called a hole. Pure silicon is not ideal, so manufacturers add dopants to create layers that help manage these freed charges. Not every photon works; low-energy photons pass through or create heat.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electrons and holes are freed, they would normally recombine. The p-n junction prevents that. Where p-type and n-type silicon meet, an electric field forms. This field acts like a slope, pushing freed electrons toward the n-type side and holes toward the p-type side. That charge separation builds a voltage across the cell. This voltage is what can drive current when a circuit is connected.</a:t>
            </a:r>
          </a:p>
          <a:p/>
          <a:p>
            <a:r>
              <a:t>Image: Internet Archive Book Images / No restrictions / Wikimedia Commons (https://commons.wikimedia.org/wiki/File:Electric_railway_review_(1906)_(14761039055).jpg)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voltage established, connecting the cell to an external circuit lets electrons flow. Metal contacts collect them from the n-type layer and send them through wires to do useful work, such as lighting a lamp. The flow is direct current, meaning it moves in one direction. A single silicon cell produces only about half a volt, so panels wire many cells in series. Later, an inverter can convert this DC into household AC.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Solar panels generate direct current, where electrons flow in one direction. The inverter takes that DC and rapidly switches it to create alternating current, the type your wall outlets use. In the U.S., AC alternates 60 times per second, at 120/240 volts. String inverters handle many panels together, while microinverters convert at each panel. Modern inverters are about 96–98% efficient, so little energy is lost in conversion.</a:t>
            </a:r>
          </a:p>
          <a:p/>
          <a:p>
            <a:r>
              <a:t>Image: Michael S Adler / CC BY-SA 4.0 / Wikimedia Commons (https://commons.wikimedia.org/wiki/File:Total_Solar_Eclipse_8-21-17.jpg)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AC leaves the inverter, it enters your breaker panel and is distributed to circuits around the home. That electricity runs lights, refrigerators, computers, and EV chargers. Any surplus can flow back to the grid, often earning net-metering credits. With a battery, extra DC or AC can be stored for night use. An average U.S. home uses roughly 30 kilowatt-hours per 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822960" y="2103120"/>
            <a:ext cx="10515600" cy="1463040"/>
          </a:xfrm>
        </p:spPr>
        <p:txBody>
          <a:bodyPr wrap="square"/>
          <a:lstStyle/>
          <a:p>
            <a:pPr algn="l"/>
            <a:r>
              <a:rPr sz="4400" b="1">
                <a:solidFill>
                  <a:srgbClr val="111111"/>
                </a:solidFill>
                <a:latin typeface="Arial"/>
              </a:rPr>
              <a:t>How Solar Panels Turn Sunlight into Electricity</a:t>
            </a:r>
          </a:p>
        </p:txBody>
      </p:sp>
      <p:sp>
        <p:nvSpPr>
          <p:cNvPr id="3" name="Subtitle 2"/>
          <p:cNvSpPr>
            <a:spLocks noGrp="1"/>
          </p:cNvSpPr>
          <p:nvPr>
            <p:ph type="subTitle" idx="1"/>
          </p:nvPr>
        </p:nvSpPr>
        <p:spPr>
          <a:xfrm>
            <a:off x="822960" y="3749039"/>
            <a:ext cx="10515600" cy="914400"/>
          </a:xfrm>
        </p:spPr>
        <p:txBody>
          <a:bodyPr wrap="square"/>
          <a:lstStyle/>
          <a:p>
            <a:pPr algn="l"/>
            <a:r>
              <a:rPr sz="2200" b="0">
                <a:solidFill>
                  <a:srgbClr val="666666"/>
                </a:solidFill>
                <a:latin typeface="Arial"/>
              </a:rPr>
              <a:t>A beginner-friendly journey from photons to power</a:t>
            </a:r>
          </a:p>
        </p:txBody>
      </p:sp>
      <p:sp>
        <p:nvSpPr>
          <p:cNvPr id="4" name="Rectangle 3"/>
          <p:cNvSpPr/>
          <p:nvPr/>
        </p:nvSpPr>
        <p:spPr>
          <a:xfrm>
            <a:off x="822960" y="1920240"/>
            <a:ext cx="1280160" cy="73152"/>
          </a:xfrm>
          <a:prstGeom prst="rect">
            <a:avLst/>
          </a:prstGeom>
          <a:solidFill>
            <a:srgbClr val="2F5D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743200"/>
            <a:ext cx="10515600" cy="1463040"/>
          </a:xfrm>
        </p:spPr>
        <p:txBody>
          <a:bodyPr wrap="square"/>
          <a:lstStyle/>
          <a:p>
            <a:r>
              <a:rPr sz="4000" b="1">
                <a:solidFill>
                  <a:srgbClr val="111111"/>
                </a:solidFill>
                <a:latin typeface="Arial"/>
              </a:rPr>
              <a:t>Sunlight and Solar Panels</a:t>
            </a:r>
          </a:p>
        </p:txBody>
      </p:sp>
      <p:sp>
        <p:nvSpPr>
          <p:cNvPr id="3" name="Text Placeholder 2"/>
          <p:cNvSpPr>
            <a:spLocks noGrp="1"/>
          </p:cNvSpPr>
          <p:nvPr>
            <p:ph type="body" idx="1"/>
          </p:nvPr>
        </p:nvSpPr>
        <p:spPr>
          <a:xfrm>
            <a:off x="822960" y="2011680"/>
            <a:ext cx="3657600" cy="731520"/>
          </a:xfrm>
        </p:spPr>
        <p:txBody>
          <a:bodyPr wrap="square"/>
          <a:lstStyle/>
          <a:p>
            <a:r>
              <a:rPr sz="2400" b="1">
                <a:solidFill>
                  <a:srgbClr val="2F5DA8"/>
                </a:solidFill>
                <a:latin typeface="Arial"/>
              </a:rPr>
              <a:t>01</a:t>
            </a:r>
          </a:p>
        </p:txBody>
      </p:sp>
      <p:sp>
        <p:nvSpPr>
          <p:cNvPr id="4" name="Rectangle 3"/>
          <p:cNvSpPr/>
          <p:nvPr/>
        </p:nvSpPr>
        <p:spPr>
          <a:xfrm>
            <a:off x="822960" y="4389120"/>
            <a:ext cx="10515600" cy="27432"/>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11064240" cy="1005840"/>
          </a:xfrm>
        </p:spPr>
        <p:txBody>
          <a:bodyPr wrap="square"/>
          <a:lstStyle/>
          <a:p>
            <a:pPr algn="l"/>
            <a:r>
              <a:rPr sz="3200" b="1">
                <a:solidFill>
                  <a:srgbClr val="111111"/>
                </a:solidFill>
                <a:latin typeface="Arial"/>
              </a:rPr>
              <a:t>Sunlight: The Original Energy Source</a:t>
            </a:r>
          </a:p>
        </p:txBody>
      </p:sp>
      <p:sp>
        <p:nvSpPr>
          <p:cNvPr id="3" name="Content Placeholder 2"/>
          <p:cNvSpPr>
            <a:spLocks noGrp="1"/>
          </p:cNvSpPr>
          <p:nvPr>
            <p:ph idx="1"/>
          </p:nvPr>
        </p:nvSpPr>
        <p:spPr>
          <a:xfrm>
            <a:off x="548640" y="1645920"/>
            <a:ext cx="6583680" cy="4480560"/>
          </a:xfrm>
        </p:spPr>
        <p:txBody>
          <a:bodyPr wrap="square"/>
          <a:lstStyle/>
          <a:p>
            <a:pPr>
              <a:spcAft>
                <a:spcPts val="1000"/>
              </a:spcAft>
            </a:pPr>
            <a:r>
              <a:rPr sz="2200" b="0">
                <a:solidFill>
                  <a:srgbClr val="111111"/>
                </a:solidFill>
                <a:latin typeface="Arial"/>
              </a:rPr>
              <a:t>Sun fuses hydrogen into helium, releasing photons</a:t>
            </a:r>
          </a:p>
          <a:p>
            <a:pPr>
              <a:spcAft>
                <a:spcPts val="1000"/>
              </a:spcAft>
            </a:pPr>
            <a:r>
              <a:rPr sz="2200" b="0">
                <a:solidFill>
                  <a:srgbClr val="111111"/>
                </a:solidFill>
                <a:latin typeface="Arial"/>
              </a:rPr>
              <a:t>Photons take about 8 minutes to reach Earth</a:t>
            </a:r>
          </a:p>
          <a:p>
            <a:pPr>
              <a:spcAft>
                <a:spcPts val="1000"/>
              </a:spcAft>
            </a:pPr>
            <a:r>
              <a:rPr sz="2200" b="0">
                <a:solidFill>
                  <a:srgbClr val="111111"/>
                </a:solidFill>
                <a:latin typeface="Arial"/>
              </a:rPr>
              <a:t>Earth receives 173,000 terawatts of solar power continuously</a:t>
            </a:r>
          </a:p>
          <a:p>
            <a:pPr>
              <a:spcAft>
                <a:spcPts val="1000"/>
              </a:spcAft>
            </a:pPr>
            <a:r>
              <a:rPr sz="2200" b="0">
                <a:solidFill>
                  <a:srgbClr val="111111"/>
                </a:solidFill>
                <a:latin typeface="Arial"/>
              </a:rPr>
              <a:t>Solar panels convert a fraction of this into electricity</a:t>
            </a:r>
          </a:p>
          <a:p>
            <a:pPr>
              <a:spcAft>
                <a:spcPts val="1000"/>
              </a:spcAft>
            </a:pPr>
            <a:r>
              <a:rPr sz="2200" b="0">
                <a:solidFill>
                  <a:srgbClr val="111111"/>
                </a:solidFill>
                <a:latin typeface="Arial"/>
              </a:rPr>
              <a:t>Sunlight is renewable and available daily</a:t>
            </a:r>
          </a:p>
        </p:txBody>
      </p:sp>
      <p:sp>
        <p:nvSpPr>
          <p:cNvPr id="4" name="Rectangle 3"/>
          <p:cNvSpPr/>
          <p:nvPr/>
        </p:nvSpPr>
        <p:spPr>
          <a:xfrm>
            <a:off x="548640" y="1371600"/>
            <a:ext cx="822960" cy="73152"/>
          </a:xfrm>
          <a:prstGeom prst="rect">
            <a:avLst/>
          </a:prstGeom>
          <a:solidFill>
            <a:srgbClr val="2F5D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un_solar_energy.jpg"/>
          <p:cNvPicPr>
            <a:picLocks noChangeAspect="1"/>
          </p:cNvPicPr>
          <p:nvPr/>
        </p:nvPicPr>
        <p:blipFill>
          <a:blip r:embed="rId2"/>
          <a:stretch>
            <a:fillRect/>
          </a:stretch>
        </p:blipFill>
        <p:spPr>
          <a:xfrm>
            <a:off x="7498079" y="1645920"/>
            <a:ext cx="4114800" cy="2562933"/>
          </a:xfrm>
          <a:prstGeom prst="rect">
            <a:avLst/>
          </a:prstGeom>
        </p:spPr>
      </p:pic>
      <p:sp>
        <p:nvSpPr>
          <p:cNvPr id="6" name="TextBox 5"/>
          <p:cNvSpPr txBox="1"/>
          <p:nvPr/>
        </p:nvSpPr>
        <p:spPr>
          <a:xfrm>
            <a:off x="7498079" y="4254573"/>
            <a:ext cx="4114800" cy="365760"/>
          </a:xfrm>
          <a:prstGeom prst="rect">
            <a:avLst/>
          </a:prstGeom>
          <a:noFill/>
        </p:spPr>
        <p:txBody>
          <a:bodyPr wrap="square">
            <a:spAutoFit/>
          </a:bodyPr>
          <a:lstStyle/>
          <a:p>
            <a:r>
              <a:rPr sz="900" b="0">
                <a:solidFill>
                  <a:srgbClr val="666666"/>
                </a:solidFill>
                <a:latin typeface="Arial"/>
              </a:rPr>
              <a:t>afloresm / CC BY 2.0 / Wikimedia Commons</a:t>
            </a:r>
          </a:p>
        </p:txBody>
      </p:sp>
      <p:sp>
        <p:nvSpPr>
          <p:cNvPr id="7" name="TextBox 6"/>
          <p:cNvSpPr txBox="1"/>
          <p:nvPr/>
        </p:nvSpPr>
        <p:spPr>
          <a:xfrm>
            <a:off x="548640" y="6355080"/>
            <a:ext cx="11094415" cy="320040"/>
          </a:xfrm>
          <a:prstGeom prst="rect">
            <a:avLst/>
          </a:prstGeom>
          <a:noFill/>
        </p:spPr>
        <p:txBody>
          <a:bodyPr wrap="square">
            <a:spAutoFit/>
          </a:bodyPr>
          <a:lstStyle/>
          <a:p>
            <a:r>
              <a:rPr sz="1100" b="0">
                <a:solidFill>
                  <a:srgbClr val="666666"/>
                </a:solidFill>
                <a:latin typeface="Arial"/>
              </a:rPr>
              <a:t>How Solar Panels Turn Sunlight into Electricity  ·  Sunlight and Solar Panels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11064240" cy="1005840"/>
          </a:xfrm>
        </p:spPr>
        <p:txBody>
          <a:bodyPr wrap="square"/>
          <a:lstStyle/>
          <a:p>
            <a:pPr algn="l"/>
            <a:r>
              <a:rPr sz="3200" b="1">
                <a:solidFill>
                  <a:srgbClr val="111111"/>
                </a:solidFill>
                <a:latin typeface="Arial"/>
              </a:rPr>
              <a:t>Inside a Solar Panel</a:t>
            </a:r>
          </a:p>
        </p:txBody>
      </p:sp>
      <p:sp>
        <p:nvSpPr>
          <p:cNvPr id="3" name="Content Placeholder 2"/>
          <p:cNvSpPr>
            <a:spLocks noGrp="1"/>
          </p:cNvSpPr>
          <p:nvPr>
            <p:ph idx="1"/>
          </p:nvPr>
        </p:nvSpPr>
        <p:spPr>
          <a:xfrm>
            <a:off x="548640" y="1645920"/>
            <a:ext cx="11064240" cy="4480560"/>
          </a:xfrm>
        </p:spPr>
        <p:txBody>
          <a:bodyPr wrap="square"/>
          <a:lstStyle/>
          <a:p>
            <a:pPr>
              <a:spcAft>
                <a:spcPts val="1000"/>
              </a:spcAft>
            </a:pPr>
            <a:r>
              <a:rPr sz="2200" b="0">
                <a:solidFill>
                  <a:srgbClr val="111111"/>
                </a:solidFill>
                <a:latin typeface="Arial"/>
              </a:rPr>
              <a:t>Glass protects cells and lets sunlight through</a:t>
            </a:r>
          </a:p>
          <a:p>
            <a:pPr>
              <a:spcAft>
                <a:spcPts val="1000"/>
              </a:spcAft>
            </a:pPr>
            <a:r>
              <a:rPr sz="2200" b="0">
                <a:solidFill>
                  <a:srgbClr val="111111"/>
                </a:solidFill>
                <a:latin typeface="Arial"/>
              </a:rPr>
              <a:t>Silicon cells are sandwiched between protective layers</a:t>
            </a:r>
          </a:p>
          <a:p>
            <a:pPr>
              <a:spcAft>
                <a:spcPts val="1000"/>
              </a:spcAft>
            </a:pPr>
            <a:r>
              <a:rPr sz="2200" b="0">
                <a:solidFill>
                  <a:srgbClr val="111111"/>
                </a:solidFill>
                <a:latin typeface="Arial"/>
              </a:rPr>
              <a:t>Metal frame holds panel, wires carry current out</a:t>
            </a:r>
          </a:p>
          <a:p>
            <a:pPr>
              <a:spcAft>
                <a:spcPts val="1000"/>
              </a:spcAft>
            </a:pPr>
            <a:r>
              <a:rPr sz="2200" b="0">
                <a:solidFill>
                  <a:srgbClr val="111111"/>
                </a:solidFill>
                <a:latin typeface="Arial"/>
              </a:rPr>
              <a:t>Photons hit silicon, excite electrons into motion</a:t>
            </a:r>
          </a:p>
          <a:p>
            <a:pPr>
              <a:spcAft>
                <a:spcPts val="1000"/>
              </a:spcAft>
            </a:pPr>
            <a:r>
              <a:rPr sz="2200" b="0">
                <a:solidFill>
                  <a:srgbClr val="111111"/>
                </a:solidFill>
                <a:latin typeface="Arial"/>
              </a:rPr>
              <a:t>Electric field pushes electrons, creating usable current</a:t>
            </a:r>
          </a:p>
        </p:txBody>
      </p:sp>
      <p:sp>
        <p:nvSpPr>
          <p:cNvPr id="4" name="Rectangle 3"/>
          <p:cNvSpPr/>
          <p:nvPr/>
        </p:nvSpPr>
        <p:spPr>
          <a:xfrm>
            <a:off x="548640" y="1371600"/>
            <a:ext cx="822960" cy="73152"/>
          </a:xfrm>
          <a:prstGeom prst="rect">
            <a:avLst/>
          </a:prstGeom>
          <a:solidFill>
            <a:srgbClr val="2F5D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11094415" cy="320040"/>
          </a:xfrm>
          <a:prstGeom prst="rect">
            <a:avLst/>
          </a:prstGeom>
          <a:noFill/>
        </p:spPr>
        <p:txBody>
          <a:bodyPr wrap="square">
            <a:spAutoFit/>
          </a:bodyPr>
          <a:lstStyle/>
          <a:p>
            <a:r>
              <a:rPr sz="1100" b="0">
                <a:solidFill>
                  <a:srgbClr val="666666"/>
                </a:solidFill>
                <a:latin typeface="Arial"/>
              </a:rPr>
              <a:t>How Solar Panels Turn Sunlight into Electricity  ·  Sunlight and Solar Panels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11064240" cy="1005840"/>
          </a:xfrm>
        </p:spPr>
        <p:txBody>
          <a:bodyPr wrap="square"/>
          <a:lstStyle/>
          <a:p>
            <a:pPr algn="l"/>
            <a:r>
              <a:rPr sz="3200" b="1">
                <a:solidFill>
                  <a:srgbClr val="111111"/>
                </a:solidFill>
                <a:latin typeface="Arial"/>
              </a:rPr>
              <a:t>Silicon: The Light-Sensitive Material</a:t>
            </a:r>
          </a:p>
        </p:txBody>
      </p:sp>
      <p:sp>
        <p:nvSpPr>
          <p:cNvPr id="3" name="Content Placeholder 2"/>
          <p:cNvSpPr>
            <a:spLocks noGrp="1"/>
          </p:cNvSpPr>
          <p:nvPr>
            <p:ph idx="1"/>
          </p:nvPr>
        </p:nvSpPr>
        <p:spPr>
          <a:xfrm>
            <a:off x="548640" y="1645920"/>
            <a:ext cx="6583680" cy="4480560"/>
          </a:xfrm>
        </p:spPr>
        <p:txBody>
          <a:bodyPr wrap="square"/>
          <a:lstStyle/>
          <a:p>
            <a:pPr>
              <a:spcAft>
                <a:spcPts val="1000"/>
              </a:spcAft>
            </a:pPr>
            <a:r>
              <a:rPr sz="2200" b="0">
                <a:solidFill>
                  <a:srgbClr val="111111"/>
                </a:solidFill>
                <a:latin typeface="Arial"/>
              </a:rPr>
              <a:t>Silicon is second most abundant element in Earth's crust</a:t>
            </a:r>
          </a:p>
          <a:p>
            <a:pPr>
              <a:spcAft>
                <a:spcPts val="1000"/>
              </a:spcAft>
            </a:pPr>
            <a:r>
              <a:rPr sz="2200" b="0">
                <a:solidFill>
                  <a:srgbClr val="111111"/>
                </a:solidFill>
                <a:latin typeface="Arial"/>
              </a:rPr>
              <a:t>Pure silicon is a semiconductor, not a perfect conductor</a:t>
            </a:r>
          </a:p>
          <a:p>
            <a:pPr>
              <a:spcAft>
                <a:spcPts val="1000"/>
              </a:spcAft>
            </a:pPr>
            <a:r>
              <a:rPr sz="2200" b="0">
                <a:solidFill>
                  <a:srgbClr val="111111"/>
                </a:solidFill>
                <a:latin typeface="Arial"/>
              </a:rPr>
              <a:t>Doping with phosphorus or boron creates n-type and p-type</a:t>
            </a:r>
          </a:p>
          <a:p>
            <a:pPr>
              <a:spcAft>
                <a:spcPts val="1000"/>
              </a:spcAft>
            </a:pPr>
            <a:r>
              <a:rPr sz="2200" b="0">
                <a:solidFill>
                  <a:srgbClr val="111111"/>
                </a:solidFill>
                <a:latin typeface="Arial"/>
              </a:rPr>
              <a:t>Light knocks electrons loose, creating electron-hole pairs</a:t>
            </a:r>
          </a:p>
          <a:p>
            <a:pPr>
              <a:spcAft>
                <a:spcPts val="1000"/>
              </a:spcAft>
            </a:pPr>
            <a:r>
              <a:rPr sz="2200" b="0">
                <a:solidFill>
                  <a:srgbClr val="111111"/>
                </a:solidFill>
                <a:latin typeface="Arial"/>
              </a:rPr>
              <a:t>Crystalline silicon dominates over 90% of solar panels</a:t>
            </a:r>
          </a:p>
        </p:txBody>
      </p:sp>
      <p:sp>
        <p:nvSpPr>
          <p:cNvPr id="4" name="Rectangle 3"/>
          <p:cNvSpPr/>
          <p:nvPr/>
        </p:nvSpPr>
        <p:spPr>
          <a:xfrm>
            <a:off x="548640" y="1371600"/>
            <a:ext cx="822960" cy="73152"/>
          </a:xfrm>
          <a:prstGeom prst="rect">
            <a:avLst/>
          </a:prstGeom>
          <a:solidFill>
            <a:srgbClr val="2F5D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ilicon_wafer.jpg"/>
          <p:cNvPicPr>
            <a:picLocks noChangeAspect="1"/>
          </p:cNvPicPr>
          <p:nvPr/>
        </p:nvPicPr>
        <p:blipFill>
          <a:blip r:embed="rId2"/>
          <a:stretch>
            <a:fillRect/>
          </a:stretch>
        </p:blipFill>
        <p:spPr>
          <a:xfrm>
            <a:off x="7498079" y="1645920"/>
            <a:ext cx="4114800" cy="3103245"/>
          </a:xfrm>
          <a:prstGeom prst="rect">
            <a:avLst/>
          </a:prstGeom>
        </p:spPr>
      </p:pic>
      <p:sp>
        <p:nvSpPr>
          <p:cNvPr id="6" name="TextBox 5"/>
          <p:cNvSpPr txBox="1"/>
          <p:nvPr/>
        </p:nvSpPr>
        <p:spPr>
          <a:xfrm>
            <a:off x="7498079" y="4794885"/>
            <a:ext cx="4114800" cy="365760"/>
          </a:xfrm>
          <a:prstGeom prst="rect">
            <a:avLst/>
          </a:prstGeom>
          <a:noFill/>
        </p:spPr>
        <p:txBody>
          <a:bodyPr wrap="square">
            <a:spAutoFit/>
          </a:bodyPr>
          <a:lstStyle/>
          <a:p>
            <a:r>
              <a:rPr sz="900" b="0">
                <a:solidFill>
                  <a:srgbClr val="666666"/>
                </a:solidFill>
                <a:latin typeface="Arial"/>
              </a:rPr>
              <a:t>Sangitiana Fararano / CC BY-SA 2.0 / Wikimedia Commons</a:t>
            </a:r>
          </a:p>
        </p:txBody>
      </p:sp>
      <p:sp>
        <p:nvSpPr>
          <p:cNvPr id="7" name="TextBox 6"/>
          <p:cNvSpPr txBox="1"/>
          <p:nvPr/>
        </p:nvSpPr>
        <p:spPr>
          <a:xfrm>
            <a:off x="548640" y="6355080"/>
            <a:ext cx="11094415" cy="320040"/>
          </a:xfrm>
          <a:prstGeom prst="rect">
            <a:avLst/>
          </a:prstGeom>
          <a:noFill/>
        </p:spPr>
        <p:txBody>
          <a:bodyPr wrap="square">
            <a:spAutoFit/>
          </a:bodyPr>
          <a:lstStyle/>
          <a:p>
            <a:r>
              <a:rPr sz="1100" b="0">
                <a:solidFill>
                  <a:srgbClr val="666666"/>
                </a:solidFill>
                <a:latin typeface="Arial"/>
              </a:rPr>
              <a:t>How Solar Panels Turn Sunlight into Electricity  ·  Sunlight and Solar Panels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743200"/>
            <a:ext cx="10515600" cy="1463040"/>
          </a:xfrm>
        </p:spPr>
        <p:txBody>
          <a:bodyPr wrap="square"/>
          <a:lstStyle/>
          <a:p>
            <a:r>
              <a:rPr sz="4000" b="1">
                <a:solidFill>
                  <a:srgbClr val="111111"/>
                </a:solidFill>
                <a:latin typeface="Arial"/>
              </a:rPr>
              <a:t>How Photons Create Current</a:t>
            </a:r>
          </a:p>
        </p:txBody>
      </p:sp>
      <p:sp>
        <p:nvSpPr>
          <p:cNvPr id="3" name="Text Placeholder 2"/>
          <p:cNvSpPr>
            <a:spLocks noGrp="1"/>
          </p:cNvSpPr>
          <p:nvPr>
            <p:ph type="body" idx="1"/>
          </p:nvPr>
        </p:nvSpPr>
        <p:spPr>
          <a:xfrm>
            <a:off x="822960" y="2011680"/>
            <a:ext cx="3657600" cy="731520"/>
          </a:xfrm>
        </p:spPr>
        <p:txBody>
          <a:bodyPr wrap="square"/>
          <a:lstStyle/>
          <a:p>
            <a:r>
              <a:rPr sz="2400" b="1">
                <a:solidFill>
                  <a:srgbClr val="2F5DA8"/>
                </a:solidFill>
                <a:latin typeface="Arial"/>
              </a:rPr>
              <a:t>02</a:t>
            </a:r>
          </a:p>
        </p:txBody>
      </p:sp>
      <p:sp>
        <p:nvSpPr>
          <p:cNvPr id="4" name="Rectangle 3"/>
          <p:cNvSpPr/>
          <p:nvPr/>
        </p:nvSpPr>
        <p:spPr>
          <a:xfrm>
            <a:off x="822960" y="4389120"/>
            <a:ext cx="10515600" cy="27432"/>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11064240" cy="1005840"/>
          </a:xfrm>
        </p:spPr>
        <p:txBody>
          <a:bodyPr wrap="square"/>
          <a:lstStyle/>
          <a:p>
            <a:pPr algn="l"/>
            <a:r>
              <a:rPr sz="3200" b="1">
                <a:solidFill>
                  <a:srgbClr val="111111"/>
                </a:solidFill>
                <a:latin typeface="Arial"/>
              </a:rPr>
              <a:t>Photons Knock Electrons Loose</a:t>
            </a:r>
          </a:p>
        </p:txBody>
      </p:sp>
      <p:sp>
        <p:nvSpPr>
          <p:cNvPr id="3" name="Content Placeholder 2"/>
          <p:cNvSpPr>
            <a:spLocks noGrp="1"/>
          </p:cNvSpPr>
          <p:nvPr>
            <p:ph idx="1"/>
          </p:nvPr>
        </p:nvSpPr>
        <p:spPr>
          <a:xfrm>
            <a:off x="548640" y="1645920"/>
            <a:ext cx="11064240" cy="4480560"/>
          </a:xfrm>
        </p:spPr>
        <p:txBody>
          <a:bodyPr wrap="square"/>
          <a:lstStyle/>
          <a:p>
            <a:pPr>
              <a:spcAft>
                <a:spcPts val="1000"/>
              </a:spcAft>
            </a:pPr>
            <a:r>
              <a:rPr sz="2200" b="0">
                <a:solidFill>
                  <a:srgbClr val="111111"/>
                </a:solidFill>
                <a:latin typeface="Arial"/>
              </a:rPr>
              <a:t>Photons from sunlight hit silicon atoms in panel</a:t>
            </a:r>
          </a:p>
          <a:p>
            <a:pPr>
              <a:spcAft>
                <a:spcPts val="1000"/>
              </a:spcAft>
            </a:pPr>
            <a:r>
              <a:rPr sz="2200" b="0">
                <a:solidFill>
                  <a:srgbClr val="111111"/>
                </a:solidFill>
                <a:latin typeface="Arial"/>
              </a:rPr>
              <a:t>Photon energy transfers to electron, exciting it</a:t>
            </a:r>
          </a:p>
          <a:p>
            <a:pPr>
              <a:spcAft>
                <a:spcPts val="1000"/>
              </a:spcAft>
            </a:pPr>
            <a:r>
              <a:rPr sz="2200" b="0">
                <a:solidFill>
                  <a:srgbClr val="111111"/>
                </a:solidFill>
                <a:latin typeface="Arial"/>
              </a:rPr>
              <a:t>Electron breaks free, leaving a hole</a:t>
            </a:r>
          </a:p>
          <a:p>
            <a:pPr>
              <a:spcAft>
                <a:spcPts val="1000"/>
              </a:spcAft>
            </a:pPr>
            <a:r>
              <a:rPr sz="2200" b="0">
                <a:solidFill>
                  <a:srgbClr val="111111"/>
                </a:solidFill>
                <a:latin typeface="Arial"/>
              </a:rPr>
              <a:t>Silicon is doped to create p-type and n-type layers</a:t>
            </a:r>
          </a:p>
          <a:p>
            <a:pPr>
              <a:spcAft>
                <a:spcPts val="1000"/>
              </a:spcAft>
            </a:pPr>
            <a:r>
              <a:rPr sz="2200" b="0">
                <a:solidFill>
                  <a:srgbClr val="111111"/>
                </a:solidFill>
                <a:latin typeface="Arial"/>
              </a:rPr>
              <a:t>Only photons above bandgap energy free electrons</a:t>
            </a:r>
          </a:p>
        </p:txBody>
      </p:sp>
      <p:sp>
        <p:nvSpPr>
          <p:cNvPr id="4" name="Rectangle 3"/>
          <p:cNvSpPr/>
          <p:nvPr/>
        </p:nvSpPr>
        <p:spPr>
          <a:xfrm>
            <a:off x="548640" y="1371600"/>
            <a:ext cx="822960" cy="73152"/>
          </a:xfrm>
          <a:prstGeom prst="rect">
            <a:avLst/>
          </a:prstGeom>
          <a:solidFill>
            <a:srgbClr val="2F5D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11094415" cy="320040"/>
          </a:xfrm>
          <a:prstGeom prst="rect">
            <a:avLst/>
          </a:prstGeom>
          <a:noFill/>
        </p:spPr>
        <p:txBody>
          <a:bodyPr wrap="square">
            <a:spAutoFit/>
          </a:bodyPr>
          <a:lstStyle/>
          <a:p>
            <a:r>
              <a:rPr sz="1100" b="0">
                <a:solidFill>
                  <a:srgbClr val="666666"/>
                </a:solidFill>
                <a:latin typeface="Arial"/>
              </a:rPr>
              <a:t>How Solar Panels Turn Sunlight into Electricity  ·  How Photons Create Current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11064240" cy="1005840"/>
          </a:xfrm>
        </p:spPr>
        <p:txBody>
          <a:bodyPr wrap="square"/>
          <a:lstStyle/>
          <a:p>
            <a:pPr algn="l"/>
            <a:r>
              <a:rPr sz="3200" b="1">
                <a:solidFill>
                  <a:srgbClr val="111111"/>
                </a:solidFill>
                <a:latin typeface="Arial"/>
              </a:rPr>
              <a:t>Electric Field Pushes Electrons</a:t>
            </a:r>
          </a:p>
        </p:txBody>
      </p:sp>
      <p:sp>
        <p:nvSpPr>
          <p:cNvPr id="3" name="Content Placeholder 2"/>
          <p:cNvSpPr>
            <a:spLocks noGrp="1"/>
          </p:cNvSpPr>
          <p:nvPr>
            <p:ph idx="1"/>
          </p:nvPr>
        </p:nvSpPr>
        <p:spPr>
          <a:xfrm>
            <a:off x="548640" y="1645920"/>
            <a:ext cx="6583680" cy="4480560"/>
          </a:xfrm>
        </p:spPr>
        <p:txBody>
          <a:bodyPr wrap="square"/>
          <a:lstStyle/>
          <a:p>
            <a:pPr>
              <a:spcAft>
                <a:spcPts val="1000"/>
              </a:spcAft>
            </a:pPr>
            <a:r>
              <a:rPr sz="2200" b="0">
                <a:solidFill>
                  <a:srgbClr val="111111"/>
                </a:solidFill>
                <a:latin typeface="Arial"/>
              </a:rPr>
              <a:t>P-n junction creates built-in electric field</a:t>
            </a:r>
          </a:p>
          <a:p>
            <a:pPr>
              <a:spcAft>
                <a:spcPts val="1000"/>
              </a:spcAft>
            </a:pPr>
            <a:r>
              <a:rPr sz="2200" b="0">
                <a:solidFill>
                  <a:srgbClr val="111111"/>
                </a:solidFill>
                <a:latin typeface="Arial"/>
              </a:rPr>
              <a:t>Field separates freed electrons from holes</a:t>
            </a:r>
          </a:p>
          <a:p>
            <a:pPr>
              <a:spcAft>
                <a:spcPts val="1000"/>
              </a:spcAft>
            </a:pPr>
            <a:r>
              <a:rPr sz="2200" b="0">
                <a:solidFill>
                  <a:srgbClr val="111111"/>
                </a:solidFill>
                <a:latin typeface="Arial"/>
              </a:rPr>
              <a:t>Electrons pushed toward n-type layer</a:t>
            </a:r>
          </a:p>
          <a:p>
            <a:pPr>
              <a:spcAft>
                <a:spcPts val="1000"/>
              </a:spcAft>
            </a:pPr>
            <a:r>
              <a:rPr sz="2200" b="0">
                <a:solidFill>
                  <a:srgbClr val="111111"/>
                </a:solidFill>
                <a:latin typeface="Arial"/>
              </a:rPr>
              <a:t>Holes pushed toward p-type layer</a:t>
            </a:r>
          </a:p>
          <a:p>
            <a:pPr>
              <a:spcAft>
                <a:spcPts val="1000"/>
              </a:spcAft>
            </a:pPr>
            <a:r>
              <a:rPr sz="2200" b="0">
                <a:solidFill>
                  <a:srgbClr val="111111"/>
                </a:solidFill>
                <a:latin typeface="Arial"/>
              </a:rPr>
              <a:t>This separation creates voltage across cell</a:t>
            </a:r>
          </a:p>
        </p:txBody>
      </p:sp>
      <p:sp>
        <p:nvSpPr>
          <p:cNvPr id="4" name="Rectangle 3"/>
          <p:cNvSpPr/>
          <p:nvPr/>
        </p:nvSpPr>
        <p:spPr>
          <a:xfrm>
            <a:off x="548640" y="1371600"/>
            <a:ext cx="822960" cy="73152"/>
          </a:xfrm>
          <a:prstGeom prst="rect">
            <a:avLst/>
          </a:prstGeom>
          <a:solidFill>
            <a:srgbClr val="2F5D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_n_junction_electric_field.jpg"/>
          <p:cNvPicPr>
            <a:picLocks noChangeAspect="1"/>
          </p:cNvPicPr>
          <p:nvPr/>
        </p:nvPicPr>
        <p:blipFill>
          <a:blip r:embed="rId2"/>
          <a:stretch>
            <a:fillRect/>
          </a:stretch>
        </p:blipFill>
        <p:spPr>
          <a:xfrm>
            <a:off x="7498079" y="1645920"/>
            <a:ext cx="4114800" cy="1804511"/>
          </a:xfrm>
          <a:prstGeom prst="rect">
            <a:avLst/>
          </a:prstGeom>
        </p:spPr>
      </p:pic>
      <p:sp>
        <p:nvSpPr>
          <p:cNvPr id="6" name="TextBox 5"/>
          <p:cNvSpPr txBox="1"/>
          <p:nvPr/>
        </p:nvSpPr>
        <p:spPr>
          <a:xfrm>
            <a:off x="7498079" y="3496151"/>
            <a:ext cx="4114800" cy="365760"/>
          </a:xfrm>
          <a:prstGeom prst="rect">
            <a:avLst/>
          </a:prstGeom>
          <a:noFill/>
        </p:spPr>
        <p:txBody>
          <a:bodyPr wrap="square">
            <a:spAutoFit/>
          </a:bodyPr>
          <a:lstStyle/>
          <a:p>
            <a:r>
              <a:rPr sz="900" b="0">
                <a:solidFill>
                  <a:srgbClr val="666666"/>
                </a:solidFill>
                <a:latin typeface="Arial"/>
              </a:rPr>
              <a:t>Internet Archive Book Images / No restrictions / Wikimedia Commons</a:t>
            </a:r>
          </a:p>
        </p:txBody>
      </p:sp>
      <p:sp>
        <p:nvSpPr>
          <p:cNvPr id="7" name="TextBox 6"/>
          <p:cNvSpPr txBox="1"/>
          <p:nvPr/>
        </p:nvSpPr>
        <p:spPr>
          <a:xfrm>
            <a:off x="548640" y="6355080"/>
            <a:ext cx="11094415" cy="320040"/>
          </a:xfrm>
          <a:prstGeom prst="rect">
            <a:avLst/>
          </a:prstGeom>
          <a:noFill/>
        </p:spPr>
        <p:txBody>
          <a:bodyPr wrap="square">
            <a:spAutoFit/>
          </a:bodyPr>
          <a:lstStyle/>
          <a:p>
            <a:r>
              <a:rPr sz="1100" b="0">
                <a:solidFill>
                  <a:srgbClr val="666666"/>
                </a:solidFill>
                <a:latin typeface="Arial"/>
              </a:rPr>
              <a:t>How Solar Panels Turn Sunlight into Electricity  ·  How Photons Create Current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11064240" cy="1005840"/>
          </a:xfrm>
        </p:spPr>
        <p:txBody>
          <a:bodyPr wrap="square"/>
          <a:lstStyle/>
          <a:p>
            <a:pPr algn="l"/>
            <a:r>
              <a:rPr sz="3200" b="1">
                <a:solidFill>
                  <a:srgbClr val="111111"/>
                </a:solidFill>
                <a:latin typeface="Arial"/>
              </a:rPr>
              <a:t>DC Electricity Flows Out</a:t>
            </a:r>
          </a:p>
        </p:txBody>
      </p:sp>
      <p:sp>
        <p:nvSpPr>
          <p:cNvPr id="3" name="Content Placeholder 2"/>
          <p:cNvSpPr>
            <a:spLocks noGrp="1"/>
          </p:cNvSpPr>
          <p:nvPr>
            <p:ph idx="1"/>
          </p:nvPr>
        </p:nvSpPr>
        <p:spPr>
          <a:xfrm>
            <a:off x="548640" y="1645920"/>
            <a:ext cx="11064240" cy="4480560"/>
          </a:xfrm>
        </p:spPr>
        <p:txBody>
          <a:bodyPr wrap="square"/>
          <a:lstStyle/>
          <a:p>
            <a:pPr>
              <a:spcAft>
                <a:spcPts val="1000"/>
              </a:spcAft>
            </a:pPr>
            <a:r>
              <a:rPr sz="2200" b="0">
                <a:solidFill>
                  <a:srgbClr val="111111"/>
                </a:solidFill>
                <a:latin typeface="Arial"/>
              </a:rPr>
              <a:t>Electrons travel through external circuit as direct current</a:t>
            </a:r>
          </a:p>
          <a:p>
            <a:pPr>
              <a:spcAft>
                <a:spcPts val="1000"/>
              </a:spcAft>
            </a:pPr>
            <a:r>
              <a:rPr sz="2200" b="0">
                <a:solidFill>
                  <a:srgbClr val="111111"/>
                </a:solidFill>
                <a:latin typeface="Arial"/>
              </a:rPr>
              <a:t>Metal contacts collect electrons from n-type layer</a:t>
            </a:r>
          </a:p>
          <a:p>
            <a:pPr>
              <a:spcAft>
                <a:spcPts val="1000"/>
              </a:spcAft>
            </a:pPr>
            <a:r>
              <a:rPr sz="2200" b="0">
                <a:solidFill>
                  <a:srgbClr val="111111"/>
                </a:solidFill>
                <a:latin typeface="Arial"/>
              </a:rPr>
              <a:t>Current flows one direction, from negative to positive</a:t>
            </a:r>
          </a:p>
          <a:p>
            <a:pPr>
              <a:spcAft>
                <a:spcPts val="1000"/>
              </a:spcAft>
            </a:pPr>
            <a:r>
              <a:rPr sz="2200" b="0">
                <a:solidFill>
                  <a:srgbClr val="111111"/>
                </a:solidFill>
                <a:latin typeface="Arial"/>
              </a:rPr>
              <a:t>Inverter later converts DC to AC for home use</a:t>
            </a:r>
          </a:p>
          <a:p>
            <a:pPr>
              <a:spcAft>
                <a:spcPts val="1000"/>
              </a:spcAft>
            </a:pPr>
            <a:r>
              <a:rPr sz="2200" b="0">
                <a:solidFill>
                  <a:srgbClr val="111111"/>
                </a:solidFill>
                <a:latin typeface="Arial"/>
              </a:rPr>
              <a:t>Cell voltage about 0.5 to 0.6 volts per silicon cell</a:t>
            </a:r>
          </a:p>
        </p:txBody>
      </p:sp>
      <p:sp>
        <p:nvSpPr>
          <p:cNvPr id="4" name="Rectangle 3"/>
          <p:cNvSpPr/>
          <p:nvPr/>
        </p:nvSpPr>
        <p:spPr>
          <a:xfrm>
            <a:off x="548640" y="1371600"/>
            <a:ext cx="822960" cy="73152"/>
          </a:xfrm>
          <a:prstGeom prst="rect">
            <a:avLst/>
          </a:prstGeom>
          <a:solidFill>
            <a:srgbClr val="2F5D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11094415" cy="320040"/>
          </a:xfrm>
          <a:prstGeom prst="rect">
            <a:avLst/>
          </a:prstGeom>
          <a:noFill/>
        </p:spPr>
        <p:txBody>
          <a:bodyPr wrap="square">
            <a:spAutoFit/>
          </a:bodyPr>
          <a:lstStyle/>
          <a:p>
            <a:r>
              <a:rPr sz="1100" b="0">
                <a:solidFill>
                  <a:srgbClr val="666666"/>
                </a:solidFill>
                <a:latin typeface="Arial"/>
              </a:rPr>
              <a:t>How Solar Panels Turn Sunlight into Electricity  ·  How Photons Create Current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743200"/>
            <a:ext cx="10515600" cy="1463040"/>
          </a:xfrm>
        </p:spPr>
        <p:txBody>
          <a:bodyPr wrap="square"/>
          <a:lstStyle/>
          <a:p>
            <a:r>
              <a:rPr sz="4000" b="1">
                <a:solidFill>
                  <a:srgbClr val="111111"/>
                </a:solidFill>
                <a:latin typeface="Arial"/>
              </a:rPr>
              <a:t>From Panel to Plug</a:t>
            </a:r>
          </a:p>
        </p:txBody>
      </p:sp>
      <p:sp>
        <p:nvSpPr>
          <p:cNvPr id="3" name="Text Placeholder 2"/>
          <p:cNvSpPr>
            <a:spLocks noGrp="1"/>
          </p:cNvSpPr>
          <p:nvPr>
            <p:ph type="body" idx="1"/>
          </p:nvPr>
        </p:nvSpPr>
        <p:spPr>
          <a:xfrm>
            <a:off x="822960" y="2011680"/>
            <a:ext cx="3657600" cy="731520"/>
          </a:xfrm>
        </p:spPr>
        <p:txBody>
          <a:bodyPr wrap="square"/>
          <a:lstStyle/>
          <a:p>
            <a:r>
              <a:rPr sz="2400" b="1">
                <a:solidFill>
                  <a:srgbClr val="2F5DA8"/>
                </a:solidFill>
                <a:latin typeface="Arial"/>
              </a:rPr>
              <a:t>03</a:t>
            </a:r>
          </a:p>
        </p:txBody>
      </p:sp>
      <p:sp>
        <p:nvSpPr>
          <p:cNvPr id="4" name="Rectangle 3"/>
          <p:cNvSpPr/>
          <p:nvPr/>
        </p:nvSpPr>
        <p:spPr>
          <a:xfrm>
            <a:off x="822960" y="4389120"/>
            <a:ext cx="10515600" cy="27432"/>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11064240" cy="1005840"/>
          </a:xfrm>
        </p:spPr>
        <p:txBody>
          <a:bodyPr wrap="square"/>
          <a:lstStyle/>
          <a:p>
            <a:pPr algn="l"/>
            <a:r>
              <a:rPr sz="3200" b="1">
                <a:solidFill>
                  <a:srgbClr val="111111"/>
                </a:solidFill>
                <a:latin typeface="Arial"/>
              </a:rPr>
              <a:t>Inverter Turns DC into AC</a:t>
            </a:r>
          </a:p>
        </p:txBody>
      </p:sp>
      <p:sp>
        <p:nvSpPr>
          <p:cNvPr id="3" name="Content Placeholder 2"/>
          <p:cNvSpPr>
            <a:spLocks noGrp="1"/>
          </p:cNvSpPr>
          <p:nvPr>
            <p:ph idx="1"/>
          </p:nvPr>
        </p:nvSpPr>
        <p:spPr>
          <a:xfrm>
            <a:off x="548640" y="1645920"/>
            <a:ext cx="6583680" cy="4480560"/>
          </a:xfrm>
        </p:spPr>
        <p:txBody>
          <a:bodyPr wrap="square"/>
          <a:lstStyle/>
          <a:p>
            <a:pPr>
              <a:spcAft>
                <a:spcPts val="1000"/>
              </a:spcAft>
            </a:pPr>
            <a:r>
              <a:rPr sz="2200" b="0">
                <a:solidFill>
                  <a:srgbClr val="111111"/>
                </a:solidFill>
                <a:latin typeface="Arial"/>
              </a:rPr>
              <a:t>Solar panels make DC electricity, flowing one direction</a:t>
            </a:r>
          </a:p>
          <a:p>
            <a:pPr>
              <a:spcAft>
                <a:spcPts val="1000"/>
              </a:spcAft>
            </a:pPr>
            <a:r>
              <a:rPr sz="2200" b="0">
                <a:solidFill>
                  <a:srgbClr val="111111"/>
                </a:solidFill>
                <a:latin typeface="Arial"/>
              </a:rPr>
              <a:t>Inverter converts DC into AC for home use</a:t>
            </a:r>
          </a:p>
          <a:p>
            <a:pPr>
              <a:spcAft>
                <a:spcPts val="1000"/>
              </a:spcAft>
            </a:pPr>
            <a:r>
              <a:rPr sz="2200" b="0">
                <a:solidFill>
                  <a:srgbClr val="111111"/>
                </a:solidFill>
                <a:latin typeface="Arial"/>
              </a:rPr>
              <a:t>Inverters switch DC rapidly, creating 60 Hz AC</a:t>
            </a:r>
          </a:p>
          <a:p>
            <a:pPr>
              <a:spcAft>
                <a:spcPts val="1000"/>
              </a:spcAft>
            </a:pPr>
            <a:r>
              <a:rPr sz="2200" b="0">
                <a:solidFill>
                  <a:srgbClr val="111111"/>
                </a:solidFill>
                <a:latin typeface="Arial"/>
              </a:rPr>
              <a:t>String inverters connect many panels to one unit</a:t>
            </a:r>
          </a:p>
          <a:p>
            <a:pPr>
              <a:spcAft>
                <a:spcPts val="1000"/>
              </a:spcAft>
            </a:pPr>
            <a:r>
              <a:rPr sz="2200" b="0">
                <a:solidFill>
                  <a:srgbClr val="111111"/>
                </a:solidFill>
                <a:latin typeface="Arial"/>
              </a:rPr>
              <a:t>Microinverters sit behind each panel, optimizing output</a:t>
            </a:r>
          </a:p>
        </p:txBody>
      </p:sp>
      <p:sp>
        <p:nvSpPr>
          <p:cNvPr id="4" name="Rectangle 3"/>
          <p:cNvSpPr/>
          <p:nvPr/>
        </p:nvSpPr>
        <p:spPr>
          <a:xfrm>
            <a:off x="548640" y="1371600"/>
            <a:ext cx="822960" cy="73152"/>
          </a:xfrm>
          <a:prstGeom prst="rect">
            <a:avLst/>
          </a:prstGeom>
          <a:solidFill>
            <a:srgbClr val="2F5D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olar_inverter.jpg"/>
          <p:cNvPicPr>
            <a:picLocks noChangeAspect="1"/>
          </p:cNvPicPr>
          <p:nvPr/>
        </p:nvPicPr>
        <p:blipFill>
          <a:blip r:embed="rId2"/>
          <a:stretch>
            <a:fillRect/>
          </a:stretch>
        </p:blipFill>
        <p:spPr>
          <a:xfrm>
            <a:off x="7498079" y="1645920"/>
            <a:ext cx="2948940" cy="3931920"/>
          </a:xfrm>
          <a:prstGeom prst="rect">
            <a:avLst/>
          </a:prstGeom>
        </p:spPr>
      </p:pic>
      <p:sp>
        <p:nvSpPr>
          <p:cNvPr id="6" name="TextBox 5"/>
          <p:cNvSpPr txBox="1"/>
          <p:nvPr/>
        </p:nvSpPr>
        <p:spPr>
          <a:xfrm>
            <a:off x="7498079" y="5623560"/>
            <a:ext cx="4114800" cy="365760"/>
          </a:xfrm>
          <a:prstGeom prst="rect">
            <a:avLst/>
          </a:prstGeom>
          <a:noFill/>
        </p:spPr>
        <p:txBody>
          <a:bodyPr wrap="square">
            <a:spAutoFit/>
          </a:bodyPr>
          <a:lstStyle/>
          <a:p>
            <a:r>
              <a:rPr sz="900" b="0">
                <a:solidFill>
                  <a:srgbClr val="666666"/>
                </a:solidFill>
                <a:latin typeface="Arial"/>
              </a:rPr>
              <a:t>Michael S Adler / CC BY-SA 4.0 / Wikimedia Commons</a:t>
            </a:r>
          </a:p>
        </p:txBody>
      </p:sp>
      <p:sp>
        <p:nvSpPr>
          <p:cNvPr id="7" name="TextBox 6"/>
          <p:cNvSpPr txBox="1"/>
          <p:nvPr/>
        </p:nvSpPr>
        <p:spPr>
          <a:xfrm>
            <a:off x="548640" y="6355080"/>
            <a:ext cx="11094415" cy="320040"/>
          </a:xfrm>
          <a:prstGeom prst="rect">
            <a:avLst/>
          </a:prstGeom>
          <a:noFill/>
        </p:spPr>
        <p:txBody>
          <a:bodyPr wrap="square">
            <a:spAutoFit/>
          </a:bodyPr>
          <a:lstStyle/>
          <a:p>
            <a:r>
              <a:rPr sz="1100" b="0">
                <a:solidFill>
                  <a:srgbClr val="666666"/>
                </a:solidFill>
                <a:latin typeface="Arial"/>
              </a:rPr>
              <a:t>How Solar Panels Turn Sunlight into Electricity  ·  From Panel to Plug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11064240" cy="1005840"/>
          </a:xfrm>
        </p:spPr>
        <p:txBody>
          <a:bodyPr wrap="square"/>
          <a:lstStyle/>
          <a:p>
            <a:pPr algn="l"/>
            <a:r>
              <a:rPr sz="3200" b="1">
                <a:solidFill>
                  <a:srgbClr val="111111"/>
                </a:solidFill>
                <a:latin typeface="Arial"/>
              </a:rPr>
              <a:t>Powering Homes and Devices</a:t>
            </a:r>
          </a:p>
        </p:txBody>
      </p:sp>
      <p:sp>
        <p:nvSpPr>
          <p:cNvPr id="3" name="Content Placeholder 2"/>
          <p:cNvSpPr>
            <a:spLocks noGrp="1"/>
          </p:cNvSpPr>
          <p:nvPr>
            <p:ph idx="1"/>
          </p:nvPr>
        </p:nvSpPr>
        <p:spPr>
          <a:xfrm>
            <a:off x="548640" y="1645920"/>
            <a:ext cx="11064240" cy="4480560"/>
          </a:xfrm>
        </p:spPr>
        <p:txBody>
          <a:bodyPr wrap="square"/>
          <a:lstStyle/>
          <a:p>
            <a:pPr>
              <a:spcAft>
                <a:spcPts val="1000"/>
              </a:spcAft>
            </a:pPr>
            <a:r>
              <a:rPr sz="2200" b="0">
                <a:solidFill>
                  <a:srgbClr val="111111"/>
                </a:solidFill>
                <a:latin typeface="Arial"/>
              </a:rPr>
              <a:t>Breaker panel routes AC to outlets and appliances</a:t>
            </a:r>
          </a:p>
          <a:p>
            <a:pPr>
              <a:spcAft>
                <a:spcPts val="1000"/>
              </a:spcAft>
            </a:pPr>
            <a:r>
              <a:rPr sz="2200" b="0">
                <a:solidFill>
                  <a:srgbClr val="111111"/>
                </a:solidFill>
                <a:latin typeface="Arial"/>
              </a:rPr>
              <a:t>Electricity powers lights, fridge, TV, EV charger</a:t>
            </a:r>
          </a:p>
          <a:p>
            <a:pPr>
              <a:spcAft>
                <a:spcPts val="1000"/>
              </a:spcAft>
            </a:pPr>
            <a:r>
              <a:rPr sz="2200" b="0">
                <a:solidFill>
                  <a:srgbClr val="111111"/>
                </a:solidFill>
                <a:latin typeface="Arial"/>
              </a:rPr>
              <a:t>Surplus flows to grid, spinning meter backward</a:t>
            </a:r>
          </a:p>
          <a:p>
            <a:pPr>
              <a:spcAft>
                <a:spcPts val="1000"/>
              </a:spcAft>
            </a:pPr>
            <a:r>
              <a:rPr sz="2200" b="0">
                <a:solidFill>
                  <a:srgbClr val="111111"/>
                </a:solidFill>
                <a:latin typeface="Arial"/>
              </a:rPr>
              <a:t>Battery stores excess for night, then inverter converts</a:t>
            </a:r>
          </a:p>
          <a:p>
            <a:pPr>
              <a:spcAft>
                <a:spcPts val="1000"/>
              </a:spcAft>
            </a:pPr>
            <a:r>
              <a:rPr sz="2200" b="0">
                <a:solidFill>
                  <a:srgbClr val="111111"/>
                </a:solidFill>
                <a:latin typeface="Arial"/>
              </a:rPr>
              <a:t>Typical U.S. home uses about 30 kWh daily</a:t>
            </a:r>
          </a:p>
        </p:txBody>
      </p:sp>
      <p:sp>
        <p:nvSpPr>
          <p:cNvPr id="4" name="Rectangle 3"/>
          <p:cNvSpPr/>
          <p:nvPr/>
        </p:nvSpPr>
        <p:spPr>
          <a:xfrm>
            <a:off x="548640" y="1371600"/>
            <a:ext cx="822960" cy="73152"/>
          </a:xfrm>
          <a:prstGeom prst="rect">
            <a:avLst/>
          </a:prstGeom>
          <a:solidFill>
            <a:srgbClr val="2F5D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11094415" cy="320040"/>
          </a:xfrm>
          <a:prstGeom prst="rect">
            <a:avLst/>
          </a:prstGeom>
          <a:noFill/>
        </p:spPr>
        <p:txBody>
          <a:bodyPr wrap="square">
            <a:spAutoFit/>
          </a:bodyPr>
          <a:lstStyle/>
          <a:p>
            <a:r>
              <a:rPr sz="1100" b="0">
                <a:solidFill>
                  <a:srgbClr val="666666"/>
                </a:solidFill>
                <a:latin typeface="Arial"/>
              </a:rPr>
              <a:t>How Solar Panels Turn Sunlight into Electricity  ·  From Panel to Plug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